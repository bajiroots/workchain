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50734f0c30482b" /><Relationship Type="http://schemas.openxmlformats.org/officeDocument/2006/relationships/extended-properties" Target="/docProps/app.xml" Id="R803dbe10b9104fe6" /><Relationship Type="http://schemas.openxmlformats.org/officeDocument/2006/relationships/officeDocument" Target="/ppt/presentation.xml" Id="Race3c0d4f13e48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828affb3ba4c35"/>
  </p:sldMasterIdLst>
  <p:notesMasterIdLst>
    <p:notesMasterId xmlns:r="http://schemas.openxmlformats.org/officeDocument/2006/relationships" r:id="Rc3ab4e794d31490a"/>
  </p:notesMasterIdLst>
  <p:sldIdLst>
    <p:sldId xmlns:r="http://schemas.openxmlformats.org/officeDocument/2006/relationships" id="256" r:id="Rbf5799c166ed4244"/>
    <p:sldId xmlns:r="http://schemas.openxmlformats.org/officeDocument/2006/relationships" id="257" r:id="R600519d6f4cd434e"/>
    <p:sldId xmlns:r="http://schemas.openxmlformats.org/officeDocument/2006/relationships" id="258" r:id="Rec8f6040f1794bc8"/>
    <p:sldId xmlns:r="http://schemas.openxmlformats.org/officeDocument/2006/relationships" id="259" r:id="Re60f31c6ea5d411d"/>
    <p:sldId xmlns:r="http://schemas.openxmlformats.org/officeDocument/2006/relationships" id="260" r:id="Rfa3f451a20c34ed0"/>
    <p:sldId xmlns:r="http://schemas.openxmlformats.org/officeDocument/2006/relationships" id="261" r:id="Ra3e6fcfeedf2453e"/>
    <p:sldId xmlns:r="http://schemas.openxmlformats.org/officeDocument/2006/relationships" id="262" r:id="Rb2cda0c9122c4b88"/>
    <p:sldId xmlns:r="http://schemas.openxmlformats.org/officeDocument/2006/relationships" id="263" r:id="R0cdc900f87d443d9"/>
    <p:sldId xmlns:r="http://schemas.openxmlformats.org/officeDocument/2006/relationships" id="264" r:id="R6e3bf5b16bda443f"/>
    <p:sldId xmlns:r="http://schemas.openxmlformats.org/officeDocument/2006/relationships" id="265" r:id="R34cae0a7b02c477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93a145eb0d4941" /><Relationship Type="http://schemas.openxmlformats.org/officeDocument/2006/relationships/slideMaster" Target="/ppt/slideMasters/slideMaster1.xml" Id="R16828affb3ba4c35" /><Relationship Type="http://schemas.openxmlformats.org/officeDocument/2006/relationships/notesMaster" Target="/ppt/notesMasters/notesMaster1.xml" Id="Rc3ab4e794d31490a" /><Relationship Type="http://schemas.openxmlformats.org/officeDocument/2006/relationships/presProps" Target="/ppt/presProps.xml" Id="R779f767d9b1b40cb" /><Relationship Type="http://schemas.openxmlformats.org/officeDocument/2006/relationships/viewProps" Target="/ppt/viewProps.xml" Id="R103edcb02907403a" /><Relationship Type="http://schemas.openxmlformats.org/officeDocument/2006/relationships/tableStyles" Target="/ppt/tableStyles.xml" Id="R5de91bae3dce40dd" /><Relationship Type="http://schemas.openxmlformats.org/officeDocument/2006/relationships/slide" Target="/ppt/slides/slide1.xml" Id="Rbf5799c166ed4244" /><Relationship Type="http://schemas.openxmlformats.org/officeDocument/2006/relationships/slide" Target="/ppt/slides/slide2.xml" Id="R600519d6f4cd434e" /><Relationship Type="http://schemas.openxmlformats.org/officeDocument/2006/relationships/slide" Target="/ppt/slides/slide3.xml" Id="Rec8f6040f1794bc8" /><Relationship Type="http://schemas.openxmlformats.org/officeDocument/2006/relationships/slide" Target="/ppt/slides/slide4.xml" Id="Re60f31c6ea5d411d" /><Relationship Type="http://schemas.openxmlformats.org/officeDocument/2006/relationships/slide" Target="/ppt/slides/slide5.xml" Id="Rfa3f451a20c34ed0" /><Relationship Type="http://schemas.openxmlformats.org/officeDocument/2006/relationships/slide" Target="/ppt/slides/slide6.xml" Id="Ra3e6fcfeedf2453e" /><Relationship Type="http://schemas.openxmlformats.org/officeDocument/2006/relationships/slide" Target="/ppt/slides/slide7.xml" Id="Rb2cda0c9122c4b88" /><Relationship Type="http://schemas.openxmlformats.org/officeDocument/2006/relationships/slide" Target="/ppt/slides/slide8.xml" Id="R0cdc900f87d443d9" /><Relationship Type="http://schemas.openxmlformats.org/officeDocument/2006/relationships/slide" Target="/ppt/slides/slide9.xml" Id="R6e3bf5b16bda443f" /><Relationship Type="http://schemas.openxmlformats.org/officeDocument/2006/relationships/slide" Target="/ppt/slides/slide10.xml" Id="R34cae0a7b02c47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562e83947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ab9986ac424d2c" /><Relationship Type="http://schemas.openxmlformats.org/officeDocument/2006/relationships/notesMaster" Target="/ppt/notesMasters/notesMaster1.xml" Id="R3dbed1e7b4fa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468c54ab214a60" /><Relationship Type="http://schemas.openxmlformats.org/officeDocument/2006/relationships/notesMaster" Target="/ppt/notesMasters/notesMaster1.xml" Id="Re3220d504164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71575e38f84019" /><Relationship Type="http://schemas.openxmlformats.org/officeDocument/2006/relationships/notesMaster" Target="/ppt/notesMasters/notesMaster1.xml" Id="R30156e4ab5a34b3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66a861d15d41cb" /><Relationship Type="http://schemas.openxmlformats.org/officeDocument/2006/relationships/notesMaster" Target="/ppt/notesMasters/notesMaster1.xml" Id="R488c99083b6347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eb073c48a40f3" /><Relationship Type="http://schemas.openxmlformats.org/officeDocument/2006/relationships/notesMaster" Target="/ppt/notesMasters/notesMaster1.xml" Id="R6ec606ce515c4c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25ff46e4b0477e" /><Relationship Type="http://schemas.openxmlformats.org/officeDocument/2006/relationships/notesMaster" Target="/ppt/notesMasters/notesMaster1.xml" Id="Ra27570eb5e3f45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90521123d4bfe" /><Relationship Type="http://schemas.openxmlformats.org/officeDocument/2006/relationships/notesMaster" Target="/ppt/notesMasters/notesMaster1.xml" Id="R56451a8d1eb946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afe3145d944c30" /><Relationship Type="http://schemas.openxmlformats.org/officeDocument/2006/relationships/notesMaster" Target="/ppt/notesMasters/notesMaster1.xml" Id="R3a93fe3119cf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b85919f60549ed" /><Relationship Type="http://schemas.openxmlformats.org/officeDocument/2006/relationships/notesMaster" Target="/ppt/notesMasters/notesMaster1.xml" Id="R1294fd01a95b4f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5fe91ad3fb4d10" /><Relationship Type="http://schemas.openxmlformats.org/officeDocument/2006/relationships/notesMaster" Target="/ppt/notesMasters/notesMaster1.xml" Id="Rf3733ad91fb042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54912d7c548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371361232242d4" /><Relationship Type="http://schemas.openxmlformats.org/officeDocument/2006/relationships/slideLayout" Target="/ppt/slideLayouts/slideLayout1.xml" Id="Rf75805e2c67e4ad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805e2c67e4ad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9912220534c9a" /><Relationship Type="http://schemas.openxmlformats.org/officeDocument/2006/relationships/image" Target="/ppt/media/image.png" Id="Rcddcf04d660848a0" /><Relationship Type="http://schemas.openxmlformats.org/officeDocument/2006/relationships/notesSlide" Target="/ppt/notesSlides/notesSlide1.xml" Id="Rae15904e56ba4a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5101aa117d479d" /><Relationship Type="http://schemas.openxmlformats.org/officeDocument/2006/relationships/image" Target="/ppt/media/image2.png" Id="Rfe697be0fc0a4445" /><Relationship Type="http://schemas.openxmlformats.org/officeDocument/2006/relationships/image" Target="/ppt/media/image.svg" Id="R8745b2718005470d" /><Relationship Type="http://schemas.openxmlformats.org/officeDocument/2006/relationships/image" Target="/ppt/media/image3.png" Id="R394d309ca21a49b4" /><Relationship Type="http://schemas.openxmlformats.org/officeDocument/2006/relationships/image" Target="/ppt/media/image2.svg" Id="Rb9d446d4b35d41c6" /><Relationship Type="http://schemas.openxmlformats.org/officeDocument/2006/relationships/notesSlide" Target="/ppt/notesSlides/notesSlide2.xml" Id="R403675e019894d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0124e2cb3432f" /><Relationship Type="http://schemas.openxmlformats.org/officeDocument/2006/relationships/image" Target="/ppt/media/image4.png" Id="R5fb791eda246424f" /><Relationship Type="http://schemas.openxmlformats.org/officeDocument/2006/relationships/image" Target="/ppt/media/image3.svg" Id="R106a217a362e47e8" /><Relationship Type="http://schemas.openxmlformats.org/officeDocument/2006/relationships/image" Target="/ppt/media/image5.png" Id="R15b7842a769b401b" /><Relationship Type="http://schemas.openxmlformats.org/officeDocument/2006/relationships/image" Target="/ppt/media/image4.svg" Id="R3917597755d24c39" /><Relationship Type="http://schemas.openxmlformats.org/officeDocument/2006/relationships/notesSlide" Target="/ppt/notesSlides/notesSlide3.xml" Id="R35d5fe7030a0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2143c15b646dd" /><Relationship Type="http://schemas.openxmlformats.org/officeDocument/2006/relationships/notesSlide" Target="/ppt/notesSlides/notesSlide4.xml" Id="R1ee1f3b54e8b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5a179d8af4a90" /><Relationship Type="http://schemas.openxmlformats.org/officeDocument/2006/relationships/image" Target="/ppt/media/image.jpeg" Id="Rb05d543b7ac94d46" /><Relationship Type="http://schemas.openxmlformats.org/officeDocument/2006/relationships/notesSlide" Target="/ppt/notesSlides/notesSlide5.xml" Id="Re6c7e5aba08f47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42329bfcd4f2a" /><Relationship Type="http://schemas.openxmlformats.org/officeDocument/2006/relationships/image" Target="/ppt/media/image6.png" Id="R397fd0964eea4f70" /><Relationship Type="http://schemas.openxmlformats.org/officeDocument/2006/relationships/image" Target="/ppt/media/image5.svg" Id="R7af0b95a7fe24b3f" /><Relationship Type="http://schemas.openxmlformats.org/officeDocument/2006/relationships/image" Target="/ppt/media/image7.png" Id="R7ca2c027926949ad" /><Relationship Type="http://schemas.openxmlformats.org/officeDocument/2006/relationships/image" Target="/ppt/media/image6.svg" Id="R878ee48b82294da6" /><Relationship Type="http://schemas.openxmlformats.org/officeDocument/2006/relationships/image" Target="/ppt/media/image8.png" Id="R45a7fed2b41a42d2" /><Relationship Type="http://schemas.openxmlformats.org/officeDocument/2006/relationships/image" Target="/ppt/media/image7.svg" Id="R59339fbb6482429f" /><Relationship Type="http://schemas.openxmlformats.org/officeDocument/2006/relationships/image" Target="/ppt/media/image9.png" Id="R0fdf3a1c37484bfc" /><Relationship Type="http://schemas.openxmlformats.org/officeDocument/2006/relationships/image" Target="/ppt/media/image8.svg" Id="Rfe355acfea144213" /><Relationship Type="http://schemas.openxmlformats.org/officeDocument/2006/relationships/notesSlide" Target="/ppt/notesSlides/notesSlide6.xml" Id="R61d4e27adb4b47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c71d2a5664ee5" /><Relationship Type="http://schemas.openxmlformats.org/officeDocument/2006/relationships/image" Target="/ppt/media/image10.png" Id="Rcfa81c9322c34e38" /><Relationship Type="http://schemas.openxmlformats.org/officeDocument/2006/relationships/image" Target="/ppt/media/image9.svg" Id="R6dc04999757a485c" /><Relationship Type="http://schemas.openxmlformats.org/officeDocument/2006/relationships/image" Target="/ppt/media/image11.png" Id="Rea65199dc9564ec9" /><Relationship Type="http://schemas.openxmlformats.org/officeDocument/2006/relationships/image" Target="/ppt/media/image10.svg" Id="R6a78ba0e920d4b96" /><Relationship Type="http://schemas.openxmlformats.org/officeDocument/2006/relationships/image" Target="/ppt/media/image12.png" Id="R8e820ff4627f49e6" /><Relationship Type="http://schemas.openxmlformats.org/officeDocument/2006/relationships/image" Target="/ppt/media/image11.svg" Id="Reb4321acf8c0449b" /><Relationship Type="http://schemas.openxmlformats.org/officeDocument/2006/relationships/notesSlide" Target="/ppt/notesSlides/notesSlide7.xml" Id="R70890e93b6e64c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783b347104edd" /><Relationship Type="http://schemas.openxmlformats.org/officeDocument/2006/relationships/notesSlide" Target="/ppt/notesSlides/notesSlide8.xml" Id="Ra197e8e0b6ba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aad84f3ef40ac" /><Relationship Type="http://schemas.openxmlformats.org/officeDocument/2006/relationships/notesSlide" Target="/ppt/notesSlides/notesSlide9.xml" Id="R3f1d26d7f84f47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fc1e22c0e4b1c" /><Relationship Type="http://schemas.openxmlformats.org/officeDocument/2006/relationships/image" Target="/ppt/media/image13.png" Id="R3845332c4ab84dd0" /><Relationship Type="http://schemas.openxmlformats.org/officeDocument/2006/relationships/notesSlide" Target="/ppt/notesSlides/notesSlide10.xml" Id="R86d4bdafe58841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D87131E0-20BE-4977-8348-A2257E77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4BA5F-7123-4455-900B-87F3647D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4350"/>
            <a:ext cx="4476750" cy="447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1832"/>
          </a:solidFill>
          <a:ln xmlns:a="http://schemas.openxmlformats.org/drawingml/2006/main" w="9525">
            <a:solidFill>
              <a:srgbClr val="24244B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dcf04d660848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62875" y="723900"/>
            <a:ext cx="3905250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02BA-5A80-46FE-BDDC-0AFB41A1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FREELANCE ESCROW + ON-CHAIN REPUTATION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61779-C9C0-4A75-AB48-348EEE41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6191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WorkChain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1D049-5346-4EFA-9F68-84D23326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rPr>
              <a:t>Your Reputation</a:t>
            </a:r>
          </a:p>
          <a:p xmlns:a="http://schemas.openxmlformats.org/drawingml/2006/main">
            <a:pPr algn="l">
              <a:defRPr sz="42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rPr>
              <a:t>Lives On-Chain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C79B3-DC4C-401C-8668-FE7207E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581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Escrow pembayaran freelance yang otomatis mengubah project selesai menjadi certificate NFT.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200E23-FE1F-4EED-86B1-5C1779A7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8DEA9E-813F-41BE-8E1A-6C78F8CB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5B453-389B-494A-9EE7-F9098288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completed demo project di Sepolia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3444A-99A6-45D8-8C9B-600BDBE7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1AA317-4B36-4840-B41E-94A7B1BF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7912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smart contracts yang deployed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6FB1A-98EA-4D28-89B7-4BA15C83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38750"/>
            <a:ext cx="2333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E1931-E7B6-42E8-B2F2-3CA90DB1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91200"/>
            <a:ext cx="2333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backend service untuk MVP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4757F7-FB94-470F-89CD-7C7D767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410200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BUILT AND DEMONSTRATED ON ETHEREUM SEPOLIA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FD96DC-DCC1-4B64-A71C-23E098EE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6C513-F7E1-4DC2-99C4-D7A94EBB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232E7-887A-48BC-96AE-35B3A4C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75936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706B100-AE77-4742-AB23-A619F77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B3948D53-7FCD-46FF-8F7C-EFA92098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5FD7E12E-A8DE-4705-A50E-5E07E6BA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43E9310-0E21-49AB-95D3-BAB6F129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Freelance work dimulai dengan dua pihak yang sama-sama ragu.</a:t>
            </a:r>
          </a:p>
        </p:txBody>
      </p:sp>
      <p:sp>
        <p:nvSpPr>
          <p:cNvPr id="5" name="freelancer-risk-lane">
            <a:extLst xmlns:a="http://schemas.openxmlformats.org/drawingml/2006/main">
              <a:ext uri="{FF2B5EF4-FFF2-40B4-BE49-F238E27FC236}">
                <a16:creationId xmlns:a16="http://schemas.microsoft.com/office/drawing/2014/main" id="{9DC02AD1-DC8D-4993-B8BD-65073C16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6291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0303A"/>
            </a:solidFill>
            <a:prstDash val="solid"/>
          </a:ln>
        </p:spPr>
      </p:sp>
      <p:sp>
        <p:nvSpPr>
          <p:cNvPr id="6" name="client-risk-lane">
            <a:extLst xmlns:a="http://schemas.openxmlformats.org/drawingml/2006/main">
              <a:ext uri="{FF2B5EF4-FFF2-40B4-BE49-F238E27FC236}">
                <a16:creationId xmlns:a16="http://schemas.microsoft.com/office/drawing/2014/main" id="{0EDED85C-E7C9-46E8-B381-4A7F7204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14550"/>
            <a:ext cx="46291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0303A"/>
            </a:solidFill>
            <a:prstDash val="solid"/>
          </a:ln>
        </p:spPr>
      </p:sp>
      <p:sp>
        <p:nvSpPr>
          <p:cNvPr id="7" name="freelancer-icon-box">
            <a:extLst xmlns:a="http://schemas.openxmlformats.org/drawingml/2006/main">
              <a:ext uri="{FF2B5EF4-FFF2-40B4-BE49-F238E27FC236}">
                <a16:creationId xmlns:a16="http://schemas.microsoft.com/office/drawing/2014/main" id="{9DDC6D2F-41A8-4C5E-BE8A-B7F316C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3F3F7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97be0fc0a4445">
            <a:extLst>
              <a:ext uri="{96DAC541-7B7A-43D3-8B79-37D633B846F1}">
                <asvg:svgBlip xmlns:asvg="http://schemas.microsoft.com/office/drawing/2016/SVG/main" r:embed="R8745b271800547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9175" y="2524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4027B-A405-4EF4-936E-53CECA9B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Freelancer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EB494-CF4A-4C26-B8FE-B85503F6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Mengerjakan lebih dulu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19186-48B5-4CE6-85D0-5EECFFD93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Risiko: hasil diterima, pembayaran tertunda atau tidak pernah dikirim.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E94D4-BAB6-442A-80D3-70772FF6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AE700-F667-4088-86A8-198BF5E4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Bukti pengalaman tercecer di chat, invoice, dan screenshot.</a:t>
            </a:r>
          </a:p>
        </p:txBody>
      </p:sp>
      <p:sp>
        <p:nvSpPr>
          <p:cNvPr id="14" name="client-icon-box">
            <a:extLst xmlns:a="http://schemas.openxmlformats.org/drawingml/2006/main">
              <a:ext uri="{FF2B5EF4-FFF2-40B4-BE49-F238E27FC236}">
                <a16:creationId xmlns:a16="http://schemas.microsoft.com/office/drawing/2014/main" id="{79D1B7E9-7701-46C5-BCD6-834F0568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05A35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d309ca21a49b4">
            <a:extLst>
              <a:ext uri="{96DAC541-7B7A-43D3-8B79-37D633B846F1}">
                <asvg:svgBlip xmlns:asvg="http://schemas.microsoft.com/office/drawing/2016/SVG/main" r:embed="Rb9d446d4b35d41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62825" y="25241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9DB628-7EDD-4C38-B6D8-FD201B16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4B8B4-3E9C-419C-9203-76BE61CC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3714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Membayar lebih dulu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EF109-34E1-457C-A204-563A7AF8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3714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Risiko: dana sudah keluar sebelum kualitas atau penyelesaian dapat diperiksa.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FE112-B970-47E5-80F7-5EB85920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910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5F48F-1457-41EA-8640-3E8707ED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Kepercayaan personal menggantikan mekanisme settlement yang jelas.</a:t>
            </a:r>
          </a:p>
        </p:txBody>
      </p:sp>
      <p:sp>
        <p:nvSpPr>
          <p:cNvPr id="21" name="trust-gap">
            <a:extLst xmlns:a="http://schemas.openxmlformats.org/drawingml/2006/main">
              <a:ext uri="{FF2B5EF4-FFF2-40B4-BE49-F238E27FC236}">
                <a16:creationId xmlns:a16="http://schemas.microsoft.com/office/drawing/2014/main" id="{DC8CCB79-C465-45E8-B6F9-30738F0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71850"/>
            <a:ext cx="1409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TRUST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5A0C8-BEDE-4FDF-A6A0-1EBA601F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769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Satu transaksi tidak cukup jika settlement dan reputasi tetap terpisah.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2B261A-2393-4A1F-9C81-783C511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6D2264-A2B2-4C7A-BFD2-0DB17229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042993-52A9-4522-9A12-27B8E4C0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05196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4B48A73-08D0-4AB9-AACA-13BBECDA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3EA3481E-F9F4-4F8C-907B-929B77CB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7AEDF58E-9FD2-4446-BBB6-C02AEAA0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PRODUCT INSIGHT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439D1A70-D8B1-4F48-AC74-F6D6A0DA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Satu approval seharusnya menyelesaikan pembayaran dan reputasi.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82336-C50D-40CA-984D-AE4105C6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SEBELUM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65C39-CE68-4E7A-BD78-58E70848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Proses terpisah menciptakan pekerjaan manual setelah project selesai.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63AB7-3E5B-406B-9E9B-3EB5CFCF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7F994-1607-49B6-9AAD-D08CA516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Payment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4FB2C-B583-4D05-8F9E-D606C37F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1051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AFAFA"/>
                </a:solidFill>
                <a:latin typeface="Aptos"/>
                <a:ea typeface="Aptos"/>
                <a:cs typeface="Aptos"/>
              </a:rPr>
              <a:t>Transfer manual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8D6E70-5EAA-4324-8FF0-867A2E5F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FB724B-B431-416E-B3AE-1C1D146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9E8AAB-BE57-4297-8F8B-E5E81731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AFAFA"/>
                </a:solidFill>
                <a:latin typeface="Aptos"/>
                <a:ea typeface="Aptos"/>
                <a:cs typeface="Aptos"/>
              </a:rPr>
              <a:t>Link atau file di chat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A4C8F9-76AD-4FA5-B0E1-289C832D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02727-B4FE-4B3B-87D6-91673CC8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Reputation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16741-C335-4737-9824-E2580474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6672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AFAFA"/>
                </a:solidFill>
                <a:latin typeface="Aptos"/>
                <a:ea typeface="Aptos"/>
                <a:cs typeface="Aptos"/>
              </a:rPr>
              <a:t>Minta testimonial lagi</a:t>
            </a:r>
          </a:p>
        </p:txBody>
      </p:sp>
      <p:sp>
        <p:nvSpPr>
          <p:cNvPr id="16" name="workchain-unified-outcome">
            <a:extLst xmlns:a="http://schemas.openxmlformats.org/drawingml/2006/main">
              <a:ext uri="{FF2B5EF4-FFF2-40B4-BE49-F238E27FC236}">
                <a16:creationId xmlns:a16="http://schemas.microsoft.com/office/drawing/2014/main" id="{2C47F163-0DAB-46C5-9487-16DCB935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62484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12121C"/>
          </a:solidFill>
          <a:ln xmlns:a="http://schemas.openxmlformats.org/drawingml/2006/main" w="9525">
            <a:solidFill>
              <a:srgbClr val="3434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9A4C92-176F-4A3D-A1C8-1E533ADF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DENGAN WORKCHAIN</a:t>
            </a:r>
          </a:p>
        </p:txBody>
      </p:sp>
      <p:sp>
        <p:nvSpPr>
          <p:cNvPr id="18" name="approval-trigger">
            <a:extLst xmlns:a="http://schemas.openxmlformats.org/drawingml/2006/main">
              <a:ext uri="{FF2B5EF4-FFF2-40B4-BE49-F238E27FC236}">
                <a16:creationId xmlns:a16="http://schemas.microsoft.com/office/drawing/2014/main" id="{0838B9C7-E577-4AC3-B5E4-2FF4238F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3524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CLIENT APPROVES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298AB0-A976-4C8B-9C66-8A669CCB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909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3E44C-DC8F-4577-A6B8-F905E7F0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57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satu transaksi atomik</a:t>
            </a:r>
          </a:p>
        </p:txBody>
      </p:sp>
      <p:sp>
        <p:nvSpPr>
          <p:cNvPr id="21" name="payment-outcome-box">
            <a:extLst xmlns:a="http://schemas.openxmlformats.org/drawingml/2006/main">
              <a:ext uri="{FF2B5EF4-FFF2-40B4-BE49-F238E27FC236}">
                <a16:creationId xmlns:a16="http://schemas.microsoft.com/office/drawing/2014/main" id="{FC43DDBA-893A-433F-A1A3-31AEFA96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05A3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791eda246424f">
            <a:extLst>
              <a:ext uri="{96DAC541-7B7A-43D3-8B79-37D633B846F1}">
                <asvg:svgBlip xmlns:asvg="http://schemas.microsoft.com/office/drawing/2016/SVG/main" r:embed="R106a217a362e47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24600" y="4514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71E81-FC87-4FB3-9092-A8484AA8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005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WCT released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67CFB6-3550-483A-A68C-9D0FA46D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73392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Freelancer dibayar</a:t>
            </a:r>
          </a:p>
        </p:txBody>
      </p:sp>
      <p:sp>
        <p:nvSpPr>
          <p:cNvPr id="25" name="certificate-outcome-box">
            <a:extLst xmlns:a="http://schemas.openxmlformats.org/drawingml/2006/main">
              <a:ext uri="{FF2B5EF4-FFF2-40B4-BE49-F238E27FC236}">
                <a16:creationId xmlns:a16="http://schemas.microsoft.com/office/drawing/2014/main" id="{A1C01A2E-D33D-4574-9791-F6B8C17B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815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3F3F70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7842a769b401b">
            <a:extLst>
              <a:ext uri="{96DAC541-7B7A-43D3-8B79-37D633B846F1}">
                <asvg:svgBlip xmlns:asvg="http://schemas.microsoft.com/office/drawing/2016/SVG/main" r:embed="R3917597755d24c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4514850"/>
            <a:ext cx="247650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4CE225-D5D1-4CEB-B832-683EE4DD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005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NFT minted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993B65-D2D1-455C-BCE5-BEB9E6D0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339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Reputasi tercatat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BE137F-8CD6-48AF-ABC8-24D3549D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257800"/>
            <a:ext cx="461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Settlement menjadi sumber reputasi, bukan proses tambahan.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B0575B-E1E0-45D6-8889-330FEDF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0AC445-62F1-4519-8D8E-D858F9BE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8D1CA-CC07-4439-85EE-D4EC58B0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38265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3E54242-032E-4E58-99BF-EFE46EE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E7EEFA03-0CC2-4051-BAE5-B2D67E08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9C7B64EE-75DE-4C8B-B7BD-D492B3252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CORE FLOW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AED2E6D-4DE3-47E3-A6E6-FB7311DB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Tujuh action eksplisit membawa project dari agreement menjadi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18B1A-5672-4582-972D-E7B8AD9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9470E-5DCF-4A2F-AF21-0817641C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FREELANCER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CDFC1-E6E4-434A-BF72-8DB9624D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764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03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E344B-0CA9-4C28-B62C-BA21E751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290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12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tage-01">
            <a:extLst xmlns:a="http://schemas.openxmlformats.org/drawingml/2006/main">
              <a:ext uri="{FF2B5EF4-FFF2-40B4-BE49-F238E27FC236}">
                <a16:creationId xmlns:a16="http://schemas.microsoft.com/office/drawing/2014/main" id="{D8650D8F-8FF4-445F-B3C6-4DC605E7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19050">
            <a:solidFill>
              <a:srgbClr val="4545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B0B9F-C76F-4570-BB9C-05FB8A23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0288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E7871-8266-4298-814F-6154E838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724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Create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6FA0C-8CAB-4D2F-87E7-AB9FCAC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0003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scope + worker</a:t>
            </a:r>
          </a:p>
        </p:txBody>
      </p:sp>
      <p:sp>
        <p:nvSpPr>
          <p:cNvPr id="13" name="stage-02">
            <a:extLst xmlns:a="http://schemas.openxmlformats.org/drawingml/2006/main">
              <a:ext uri="{FF2B5EF4-FFF2-40B4-BE49-F238E27FC236}">
                <a16:creationId xmlns:a16="http://schemas.microsoft.com/office/drawing/2014/main" id="{AA9BED0F-6B0F-4B58-B5E6-784F84CE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19050">
            <a:solidFill>
              <a:srgbClr val="4545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78A01E-AE20-4088-BB6F-D5DA700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288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6D5F2-6C66-4EFE-8965-DD948CE2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Approve WCT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B93C6A-1CF8-43F4-858A-E4E10674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003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allowance</a:t>
            </a:r>
          </a:p>
        </p:txBody>
      </p:sp>
      <p:sp>
        <p:nvSpPr>
          <p:cNvPr id="17" name="stage-03">
            <a:extLst xmlns:a="http://schemas.openxmlformats.org/drawingml/2006/main">
              <a:ext uri="{FF2B5EF4-FFF2-40B4-BE49-F238E27FC236}">
                <a16:creationId xmlns:a16="http://schemas.microsoft.com/office/drawing/2014/main" id="{94BCF3C3-AEC8-4127-9B59-60533F05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19050">
            <a:solidFill>
              <a:srgbClr val="45458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B03C1-277F-49D9-A115-F0F8346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C01165-4E03-40EA-8087-D3FEE449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24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Fund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1BD32-B6C9-4D16-BEF9-DB49025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0003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lock escrow</a:t>
            </a:r>
          </a:p>
        </p:txBody>
      </p:sp>
      <p:sp>
        <p:nvSpPr>
          <p:cNvPr id="21" name="stage-04">
            <a:extLst xmlns:a="http://schemas.openxmlformats.org/drawingml/2006/main">
              <a:ext uri="{FF2B5EF4-FFF2-40B4-BE49-F238E27FC236}">
                <a16:creationId xmlns:a16="http://schemas.microsoft.com/office/drawing/2014/main" id="{1A486B94-F843-4DD9-9152-99187B4A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52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1F"/>
          </a:solidFill>
          <a:ln xmlns:a="http://schemas.openxmlformats.org/drawingml/2006/main" w="19050">
            <a:solidFill>
              <a:srgbClr val="205A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2A281-C725-4177-8ECC-567F58E4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814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2C2DB-D329-44C4-AAF3-1E3D75E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4767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8B7474-D872-4036-BA6D-F3B676A0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7529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start work</a:t>
            </a:r>
          </a:p>
        </p:txBody>
      </p:sp>
      <p:sp>
        <p:nvSpPr>
          <p:cNvPr id="25" name="stage-05">
            <a:extLst xmlns:a="http://schemas.openxmlformats.org/drawingml/2006/main">
              <a:ext uri="{FF2B5EF4-FFF2-40B4-BE49-F238E27FC236}">
                <a16:creationId xmlns:a16="http://schemas.microsoft.com/office/drawing/2014/main" id="{10BA22BA-2042-437C-A0C2-90E5BB16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1F"/>
          </a:solidFill>
          <a:ln xmlns:a="http://schemas.openxmlformats.org/drawingml/2006/main" w="19050">
            <a:solidFill>
              <a:srgbClr val="205A3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2CE64-4B7F-4A05-8431-2133CAEE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814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6127E7-3E49-4525-9E68-3E368EF3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767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245F2-EE69-43E8-96EE-3224716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proof URL</a:t>
            </a:r>
          </a:p>
        </p:txBody>
      </p:sp>
      <p:sp>
        <p:nvSpPr>
          <p:cNvPr id="29" name="stage-06">
            <a:extLst xmlns:a="http://schemas.openxmlformats.org/drawingml/2006/main">
              <a:ext uri="{FF2B5EF4-FFF2-40B4-BE49-F238E27FC236}">
                <a16:creationId xmlns:a16="http://schemas.microsoft.com/office/drawing/2014/main" id="{0A5D1A87-4D53-4AC5-A6A9-C6BBEF14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002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19050">
            <a:solidFill>
              <a:srgbClr val="45458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E54421-BE35-40DF-A0B8-339A9B7E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FBF16B-CE0A-4D28-BEA3-053EC123C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7241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B92BDA-246B-43B7-9C78-B61B146B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003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accept result</a:t>
            </a:r>
          </a:p>
        </p:txBody>
      </p:sp>
      <p:sp>
        <p:nvSpPr>
          <p:cNvPr id="33" name="stage-07">
            <a:extLst xmlns:a="http://schemas.openxmlformats.org/drawingml/2006/main">
              <a:ext uri="{FF2B5EF4-FFF2-40B4-BE49-F238E27FC236}">
                <a16:creationId xmlns:a16="http://schemas.microsoft.com/office/drawing/2014/main" id="{4EA9D290-B8D8-4634-AB1C-6AA1D35F3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A"/>
          </a:solidFill>
          <a:ln xmlns:a="http://schemas.openxmlformats.org/drawingml/2006/main" w="19050">
            <a:solidFill>
              <a:srgbClr val="FAFA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1BAEF9-3C0B-404A-96A7-D28C333D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05125"/>
            <a:ext cx="590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2BBD5C-9AA1-48CE-A43A-D78E2451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00450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Settle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B184D4-B603-441F-939C-060962F3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876675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pay + mint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FD3E9-3EC4-4676-9FCC-CFE00F0E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2764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779B1-E0AD-402C-8B49-A25A099E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764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06AC0D-DF70-45CC-9D93-3551BFA5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764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7E98DC0-38A5-4602-9425-F362579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276475"/>
            <a:ext cx="285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730435-1656-428D-811B-BE1454D0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29075"/>
            <a:ext cx="876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9DEBA3-228B-4FA8-9C1D-FD7C32D4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29075"/>
            <a:ext cx="619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BEC6F7-33D0-49FC-B137-6450082B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76475"/>
            <a:ext cx="2857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C7A1D3-7630-4EAA-B096-AED57D5F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76475"/>
            <a:ext cx="581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6466E-D6CC-48AD-9CA3-A2650754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276475"/>
            <a:ext cx="285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6ECA91-74E6-400D-87E4-BF4F7E05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143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Refund hanya sebelum freelancer accept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30B64F-14D3-4698-974F-1415ECC5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600700"/>
            <a:ext cx="4533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Contract state menentukan action yang muncul di UI.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B8B65FE-531E-474D-A76B-22FB21AD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18D1A36-969A-4DAA-B0BC-0FC90C39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F25FA74-6796-43CA-A8C3-4050A87E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74275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89CE04C7-015B-4942-855E-125A8A49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F9375359-8CD2-4C26-85B1-3525D972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84DF36A9-7FD2-4AE7-B41B-7F97CFED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LIVE PROOF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314E20B4-BDAA-494A-92E4-15E40B7E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Loop lengkapnya sudah terlihat langsung di Sepolia.</a:t>
            </a:r>
          </a:p>
        </p:txBody>
      </p:sp>
      <p:sp>
        <p:nvSpPr>
          <p:cNvPr id="5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EDB3A76D-3983-49C4-BBB6-2254B383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828675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111114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d543b7ac94d46"/>
          <a:stretch xmlns:a="http://schemas.openxmlformats.org/drawingml/2006/main"/>
        </p:blipFill>
        <p:spPr>
          <a:xfrm xmlns:a="http://schemas.openxmlformats.org/drawingml/2006/main">
            <a:off x="1417075" y="1962150"/>
            <a:ext cx="6481300" cy="4486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38232-466E-4EC8-B02F-5599AB88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240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OBSERVED JUNE 11,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F9CCC-73D0-44B0-BAFD-4660410D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A912F-08AB-45CB-AF5F-A79C43D1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337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demo project completed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CD157-464D-4DAA-A59B-62AE153E9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8140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2A8B9-E3D5-4AF3-8EA5-54F1C127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1338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lifecycle event groups visible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ED2F9-7C18-4760-AB68-0020045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05350"/>
            <a:ext cx="2324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0 WCT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54D9E-81E8-4ABC-861E-5AECCAC7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5780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remaining active escrow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6A743C-A0DD-4C58-B340-30A7581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912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Create -&gt; fund -&gt; accept -&gt; submit -&gt; 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05C2B-140A-4CEF-8EBE-71F2FDB5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1698E-115F-41F1-880D-BA8E3D63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actual Sepolia application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EA94B-78A3-4F9E-94D5-6D0B0795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02614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5F72982-4372-43A5-A148-687DA8E7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B4C21AE4-0203-4DEF-A470-2E748E2E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A1EB4DE1-0C08-4C94-985C-F1F1918A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365D805-3DB9-4B63-832D-E34FA484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Tiga contract memisahkan uang, lifecycle, dan reputation.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3D40A-E747-4E8A-BA69-8D0DA1C9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USER LAYER</a:t>
            </a:r>
          </a:p>
        </p:txBody>
      </p:sp>
      <p:sp>
        <p:nvSpPr>
          <p:cNvPr id="6" name="user-layer">
            <a:extLst xmlns:a="http://schemas.openxmlformats.org/drawingml/2006/main">
              <a:ext uri="{FF2B5EF4-FFF2-40B4-BE49-F238E27FC236}">
                <a16:creationId xmlns:a16="http://schemas.microsoft.com/office/drawing/2014/main" id="{5194E2AF-3E15-4C58-ACE7-3B8C3A94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209800" cy="27241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0303A"/>
            </a:solidFill>
            <a:prstDash val="solid"/>
          </a:ln>
        </p:spPr>
      </p:sp>
      <p:sp>
        <p:nvSpPr>
          <p:cNvPr id="7" name="wallet-box">
            <a:extLst xmlns:a="http://schemas.openxmlformats.org/drawingml/2006/main">
              <a:ext uri="{FF2B5EF4-FFF2-40B4-BE49-F238E27FC236}">
                <a16:creationId xmlns:a16="http://schemas.microsoft.com/office/drawing/2014/main" id="{2FB6D006-14D7-4C18-98C7-950B07CA8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3F3F70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fd0964eea4f70">
            <a:extLst>
              <a:ext uri="{96DAC541-7B7A-43D3-8B79-37D633B846F1}">
                <asvg:svgBlip xmlns:asvg="http://schemas.microsoft.com/office/drawing/2016/SVG/main" r:embed="R7af0b95a7fe24b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267652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D3690C-2DAD-4A61-834E-A4DC9189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676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Browser wallet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B9E29-AC81-4248-A2E3-03C3BB6F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Sign client dan freelancer transactions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955CF-F33A-4EE4-8BE0-E1296B54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167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980D2-896C-4160-808E-5C08DFA1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676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Next.js + Wagmi + Viem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75382A-EA29-431F-96AC-F6D6FAF4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6004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47AD1-0FA8-424D-976E-3A1352C5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337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reads + tx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1EB41-8DB4-44B7-8A71-03CA7746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CONTRACT CORE</a:t>
            </a:r>
          </a:p>
        </p:txBody>
      </p:sp>
      <p:sp>
        <p:nvSpPr>
          <p:cNvPr id="16" name="escrow-core">
            <a:extLst xmlns:a="http://schemas.openxmlformats.org/drawingml/2006/main">
              <a:ext uri="{FF2B5EF4-FFF2-40B4-BE49-F238E27FC236}">
                <a16:creationId xmlns:a16="http://schemas.microsoft.com/office/drawing/2014/main" id="{DD772118-3524-4C35-9A7A-1F03B37C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3657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12121E"/>
          </a:solidFill>
          <a:ln xmlns:a="http://schemas.openxmlformats.org/drawingml/2006/main" w="9525">
            <a:solidFill>
              <a:srgbClr val="41416E"/>
            </a:solidFill>
            <a:prstDash val="solid"/>
          </a:ln>
        </p:spPr>
      </p:sp>
      <p:sp>
        <p:nvSpPr>
          <p:cNvPr id="17" name="escrow-icon-box">
            <a:extLst xmlns:a="http://schemas.openxmlformats.org/drawingml/2006/main">
              <a:ext uri="{FF2B5EF4-FFF2-40B4-BE49-F238E27FC236}">
                <a16:creationId xmlns:a16="http://schemas.microsoft.com/office/drawing/2014/main" id="{D6E6ADB0-7C71-4A89-9666-E7B92A7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336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3F3F70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a2c027926949ad">
            <a:extLst>
              <a:ext uri="{96DAC541-7B7A-43D3-8B79-37D633B846F1}">
                <asvg:svgBlip xmlns:asvg="http://schemas.microsoft.com/office/drawing/2016/SVG/main" r:embed="R878ee48b82294d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57650" y="266700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AE564-7989-44EE-A336-8C68BBE3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71750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WorkChainEscrow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38B4B-BBA4-4C78-909F-1B01C915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62300"/>
            <a:ext cx="3009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Source of truth untuk project state dan role checks.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2B812-71F3-4313-A1BE-C4F1FF5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005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create / fund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2982DF-D831-44F0-9298-AE1FC1B7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005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accept / submit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E920B-6AC7-4005-9A5D-D08841B0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895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approve / 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2CD7B7-82C1-44E8-B666-F51B0D95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552950"/>
            <a:ext cx="300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SafeERC20 + ReentrancyGuard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203C7C-5624-4151-AF37-E7FA8CBF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670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96F575-A873-475C-A6A7-F1332C8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862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28E44C-A20B-40A6-8C73-BB4A1CF1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9621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ASSET CONTRACTS</a:t>
            </a:r>
          </a:p>
        </p:txBody>
      </p:sp>
      <p:sp>
        <p:nvSpPr>
          <p:cNvPr id="28" name="token-contract">
            <a:extLst xmlns:a="http://schemas.openxmlformats.org/drawingml/2006/main">
              <a:ext uri="{FF2B5EF4-FFF2-40B4-BE49-F238E27FC236}">
                <a16:creationId xmlns:a16="http://schemas.microsoft.com/office/drawing/2014/main" id="{F362D285-7A65-4EEA-B2F2-83F99101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505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05A35"/>
            </a:solidFill>
            <a:prstDash val="solid"/>
          </a:ln>
        </p:spPr>
      </p:sp>
      <p:sp>
        <p:nvSpPr>
          <p:cNvPr id="29" name="token-icon-box">
            <a:extLst xmlns:a="http://schemas.openxmlformats.org/drawingml/2006/main">
              <a:ext uri="{FF2B5EF4-FFF2-40B4-BE49-F238E27FC236}">
                <a16:creationId xmlns:a16="http://schemas.microsoft.com/office/drawing/2014/main" id="{ACE32B03-A81E-434A-9472-0883307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336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3A24"/>
          </a:solidFill>
          <a:ln xmlns:a="http://schemas.openxmlformats.org/drawingml/2006/main" w="9525">
            <a:solidFill>
              <a:srgbClr val="205A35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7fed2b41a42d2">
            <a:extLst>
              <a:ext uri="{96DAC541-7B7A-43D3-8B79-37D633B846F1}">
                <asvg:svgBlip xmlns:asvg="http://schemas.microsoft.com/office/drawing/2016/SVG/main" r:embed="R59339fbb648242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264795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BCA77B-36E6-4FC2-884A-26266BE0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WCT ERC-20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3BEBFD-4F9C-4672-951F-681C3FD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146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Escrow balance -&gt; freelancer payment</a:t>
            </a:r>
          </a:p>
        </p:txBody>
      </p:sp>
      <p:sp>
        <p:nvSpPr>
          <p:cNvPr id="33" name="nft-contract">
            <a:extLst xmlns:a="http://schemas.openxmlformats.org/drawingml/2006/main">
              <a:ext uri="{FF2B5EF4-FFF2-40B4-BE49-F238E27FC236}">
                <a16:creationId xmlns:a16="http://schemas.microsoft.com/office/drawing/2014/main" id="{592F955C-8D61-4EF0-AE09-7E7B0067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33800"/>
            <a:ext cx="35052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</p:sp>
      <p:sp>
        <p:nvSpPr>
          <p:cNvPr id="34" name="nft-icon-box">
            <a:extLst xmlns:a="http://schemas.openxmlformats.org/drawingml/2006/main">
              <a:ext uri="{FF2B5EF4-FFF2-40B4-BE49-F238E27FC236}">
                <a16:creationId xmlns:a16="http://schemas.microsoft.com/office/drawing/2014/main" id="{A240F3DB-7CFB-4C7E-9897-C12C0E78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3F3F70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f3a1c37484bfc">
            <a:extLst>
              <a:ext uri="{96DAC541-7B7A-43D3-8B79-37D633B846F1}">
                <asvg:svgBlip xmlns:asvg="http://schemas.microsoft.com/office/drawing/2016/SVG/main" r:embed="Rfe355acfea1442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439150" y="4152900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8F82DB-08A5-4C2B-9F26-462D0B0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57650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Certificate ERC-721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5B8EE6-EF01-4AE9-9EB6-FA3F0BF7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005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On-chain metadata + Pinata artwork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61E1E-D812-4F0F-AE9E-F7940F23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562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NO DATABASE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2813E0-3A4D-4FA3-8DE7-D75173D5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486400"/>
            <a:ext cx="1847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NO BACKEND INDEXER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117BA0-5B6F-490B-B2A0-60D9DBDC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543550"/>
            <a:ext cx="702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Frontend membaca state dan event langsung melalui Sepolia RPC.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171C6C-14B3-4D83-A0A3-97250A15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42318C-2295-4C8B-8221-352ACF3C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B11C5C-86F7-4FF8-8CBC-6F7FAB2A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973831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A627826-B92E-41D9-8F6C-EBF69904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5AFC03DF-A17E-4901-8E46-08C4331B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E110154F-4446-4508-B841-91A5DFFF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MVP DISCIPLINE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CF8F1CA-2171-4AAE-BEB3-E8191B92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Scope yang kecil membuat core promise benar-benar bisa diuji.</a:t>
            </a:r>
          </a:p>
        </p:txBody>
      </p:sp>
      <p:sp>
        <p:nvSpPr>
          <p:cNvPr id="5" name="built-scope">
            <a:extLst xmlns:a="http://schemas.openxmlformats.org/drawingml/2006/main">
              <a:ext uri="{FF2B5EF4-FFF2-40B4-BE49-F238E27FC236}">
                <a16:creationId xmlns:a16="http://schemas.microsoft.com/office/drawing/2014/main" id="{437EBCBD-AF2E-41CA-8C50-33CFBB51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914900" cy="365760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12121E"/>
          </a:solidFill>
          <a:ln xmlns:a="http://schemas.openxmlformats.org/drawingml/2006/main" w="9525">
            <a:solidFill>
              <a:srgbClr val="4141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6BF6C-1A92-4B91-9530-34EC4A62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BUILT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C3346-4E2F-4C81-912A-0A5C4C4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28900"/>
            <a:ext cx="390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Satu jalur yang lengkap</a:t>
            </a:r>
          </a:p>
        </p:txBody>
      </p:sp>
      <p:sp>
        <p:nvSpPr>
          <p:cNvPr id="8" name="built-1-box">
            <a:extLst xmlns:a="http://schemas.openxmlformats.org/drawingml/2006/main">
              <a:ext uri="{FF2B5EF4-FFF2-40B4-BE49-F238E27FC236}">
                <a16:creationId xmlns:a16="http://schemas.microsoft.com/office/drawing/2014/main" id="{093B320C-91AE-4C37-B4D1-E809901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81c9322c34e38">
            <a:extLst>
              <a:ext uri="{96DAC541-7B7A-43D3-8B79-37D633B846F1}">
                <asvg:svgBlip xmlns:asvg="http://schemas.microsoft.com/office/drawing/2016/SVG/main" r:embed="R6dc04999757a48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33813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7C9547-F53E-43F8-A553-32A87219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Escrow WCT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3FFAB1-2F6F-418C-A597-5735A232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52825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Dana terkunci sebelum pekerjaan dimulai.</a:t>
            </a:r>
          </a:p>
        </p:txBody>
      </p:sp>
      <p:sp>
        <p:nvSpPr>
          <p:cNvPr id="12" name="built-2-box">
            <a:extLst xmlns:a="http://schemas.openxmlformats.org/drawingml/2006/main">
              <a:ext uri="{FF2B5EF4-FFF2-40B4-BE49-F238E27FC236}">
                <a16:creationId xmlns:a16="http://schemas.microsoft.com/office/drawing/2014/main" id="{E18173CA-6187-4D4C-9BC4-E41CB60A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5199dc9564ec9">
            <a:extLst>
              <a:ext uri="{96DAC541-7B7A-43D3-8B79-37D633B846F1}">
                <asvg:svgBlip xmlns:asvg="http://schemas.microsoft.com/office/drawing/2016/SVG/main" r:embed="R6a78ba0e920d4b9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416242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03736-2B16-48E4-863E-6829AC8F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576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Role-aware lifecycle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2F9BD-0570-4D01-AA75-B68E9D6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Action mengikuti client, freelancer, dan status.</a:t>
            </a:r>
          </a:p>
        </p:txBody>
      </p:sp>
      <p:sp>
        <p:nvSpPr>
          <p:cNvPr id="16" name="built-3-box">
            <a:extLst xmlns:a="http://schemas.openxmlformats.org/drawingml/2006/main">
              <a:ext uri="{FF2B5EF4-FFF2-40B4-BE49-F238E27FC236}">
                <a16:creationId xmlns:a16="http://schemas.microsoft.com/office/drawing/2014/main" id="{BF9A4FC5-5058-4F89-A0C1-F367B737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05A3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20ff4627f49e6">
            <a:extLst>
              <a:ext uri="{96DAC541-7B7A-43D3-8B79-37D633B846F1}">
                <asvg:svgBlip xmlns:asvg="http://schemas.microsoft.com/office/drawing/2016/SVG/main" r:embed="Reb4321acf8c044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" y="494347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561CF6-BDBD-4262-8FC4-124FB2A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Certificate NFT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9B176-3DC0-4757-B6D4-C8A0CA59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3333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Approval langsung menghasilkan proof.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0376A-9442-4E48-BE50-FABB4F3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DEFERRED UNTIL VALIDATED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ACF236-DF47-42FD-BCA5-4AB9F1C9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Kompleksitas berikutnya harus dibayar dengan bukti kebutuhan.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323F3F-2410-44F9-A76B-46DEF6EC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04AE4A-FF49-471A-81D4-A22C940D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290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Dispute &amp; arbitration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A99340-5DB9-487D-96C9-3D7C1E62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290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Butuh aturan, actor, dan security model baru.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8C33AD-1299-48C4-9A78-7B246FBD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71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A95D3C-A7D4-4EA3-BAA9-90674CA4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195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6617B-9941-44E4-B4DD-5713D52D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195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Marketplace bidding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6B5942-451E-4A68-BE58-B8614C6C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Tidak diperlukan untuk membuktikan escrow.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63FAA0-440A-41BB-ADC5-AB2A1852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BB82D-9E22-4099-B944-52DAD0C1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07264F-316F-4ADB-A15B-5240CF47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Chat &amp; database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AE0E94-ED4B-4E81-9EF0-FBFDB322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State project sudah hidup di contract.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FFE087-FC8B-4427-9020-99027F7D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482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0DA436-B93D-428A-8063-172D3FD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304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3195A8-52D2-4CC9-AD6E-3F3DF16B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006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KYC, fiat, multi-token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0FE925-6F94-412B-AEA3-5B638AFB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00650"/>
            <a:ext cx="2571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Meningkatkan scope sebelum core flow tervalidasi.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B90C4F-22F7-40D8-A6C2-F906C9B1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B221DD9-DF08-49D9-86DB-1C24F1C4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53100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FOCUS = SAFER ITERATION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840A20-0761-4F28-A9F5-32926FFB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09C9D8-3074-4F70-A21B-CFF7A29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3A99EF-30E3-4854-9142-DF4D5AA2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99590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A953B138-E350-4D3D-B391-0C762429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EE302DD5-ED92-4F4F-A945-74655429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E9D2D8E-FCA6-4C7A-9B6B-5E1F244A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GO-TO-MARKET HYPOTHESIS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373D177-07DB-4FAC-880C-3075A8AB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Wedge pertama adalah contributor work yang sudah nyaman memakai wallet.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24C1D-AB34-491B-8CE5-B2F60FB3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TARGET SEQUENCE</a:t>
            </a:r>
          </a:p>
        </p:txBody>
      </p:sp>
      <p:sp>
        <p:nvSpPr>
          <p:cNvPr id="6" name="segment-1">
            <a:extLst xmlns:a="http://schemas.openxmlformats.org/drawingml/2006/main">
              <a:ext uri="{FF2B5EF4-FFF2-40B4-BE49-F238E27FC236}">
                <a16:creationId xmlns:a16="http://schemas.microsoft.com/office/drawing/2014/main" id="{378F4AD2-0A1E-436E-8C68-3A0AE50F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409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45458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86338D-B2D9-436C-870A-8FEB1A40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36385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Web3 communities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AB101-97A0-4047-8C1A-E7B64F60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3638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wallet-native contributor payments</a:t>
            </a:r>
          </a:p>
        </p:txBody>
      </p:sp>
      <p:sp>
        <p:nvSpPr>
          <p:cNvPr id="9" name="segment-2">
            <a:extLst xmlns:a="http://schemas.openxmlformats.org/drawingml/2006/main">
              <a:ext uri="{FF2B5EF4-FFF2-40B4-BE49-F238E27FC236}">
                <a16:creationId xmlns:a16="http://schemas.microsoft.com/office/drawing/2014/main" id="{D96637CF-D8E5-4737-8803-9424377B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42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02033"/>
          </a:solidFill>
          <a:ln xmlns:a="http://schemas.openxmlformats.org/drawingml/2006/main" w="9525">
            <a:solidFill>
              <a:srgbClr val="3A3A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DC26F6-0D81-4245-82D1-BBB060D8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2971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Student &amp; junior freelancers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82A2B-CC33-4DCD-B700-F07E761F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2971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need portable proof of work</a:t>
            </a:r>
          </a:p>
        </p:txBody>
      </p:sp>
      <p:sp>
        <p:nvSpPr>
          <p:cNvPr id="12" name="segment-3">
            <a:extLst xmlns:a="http://schemas.openxmlformats.org/drawingml/2006/main">
              <a:ext uri="{FF2B5EF4-FFF2-40B4-BE49-F238E27FC236}">
                <a16:creationId xmlns:a16="http://schemas.microsoft.com/office/drawing/2014/main" id="{86114090-8812-4C87-A7CA-76B8464C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7813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030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A965E-8045-4AD0-93EB-58C25D32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43400"/>
            <a:ext cx="2324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Boutique agencies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0C0E66-E064-4F4A-910F-F8955DE3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81525"/>
            <a:ext cx="2324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repeat projects and team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7B822-4C46-4D23-8455-9D666E1A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Mulai dari friction onboarding yang paling rendah.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16759-256C-49F1-A9F8-C56D67AC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ADOPTION LOOP</a:t>
            </a:r>
          </a:p>
        </p:txBody>
      </p:sp>
      <p:sp>
        <p:nvSpPr>
          <p:cNvPr id="17" name="loop-node-1">
            <a:extLst xmlns:a="http://schemas.openxmlformats.org/drawingml/2006/main">
              <a:ext uri="{FF2B5EF4-FFF2-40B4-BE49-F238E27FC236}">
                <a16:creationId xmlns:a16="http://schemas.microsoft.com/office/drawing/2014/main" id="{6A4F4EA0-8BDC-45D7-82C8-7C016C59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628900"/>
            <a:ext cx="2266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47F244-1E24-4B9A-9364-B47F794D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6708F-0885-4531-8AE6-A8D8649B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Client funds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766B09-D9E7-4BCF-9E70-2389595E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visible commitment</a:t>
            </a:r>
          </a:p>
        </p:txBody>
      </p:sp>
      <p:sp>
        <p:nvSpPr>
          <p:cNvPr id="21" name="loop-node-2">
            <a:extLst xmlns:a="http://schemas.openxmlformats.org/drawingml/2006/main">
              <a:ext uri="{FF2B5EF4-FFF2-40B4-BE49-F238E27FC236}">
                <a16:creationId xmlns:a16="http://schemas.microsoft.com/office/drawing/2014/main" id="{7E3A4E2A-FD05-4380-B4C4-986F7560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2266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7D7B5-BA8D-4689-A861-E9CB28D3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C2E4D-4CB1-43BF-8DDD-46A30E49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0987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Work completes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4826B-67E9-4296-9D85-F924B042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1467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payment settles</a:t>
            </a:r>
          </a:p>
        </p:txBody>
      </p:sp>
      <p:sp>
        <p:nvSpPr>
          <p:cNvPr id="25" name="loop-node-3">
            <a:extLst xmlns:a="http://schemas.openxmlformats.org/drawingml/2006/main">
              <a:ext uri="{FF2B5EF4-FFF2-40B4-BE49-F238E27FC236}">
                <a16:creationId xmlns:a16="http://schemas.microsoft.com/office/drawing/2014/main" id="{1A9EF36E-765B-4B02-A5D7-091B8218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266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F84285-7838-4B08-9B05-68B052A7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CD662A-41C8-4545-9987-2E46D15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5815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Certificate shared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2501E9-3065-4171-9B16-3531EDBD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8863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portable proof</a:t>
            </a:r>
          </a:p>
        </p:txBody>
      </p:sp>
      <p:sp>
        <p:nvSpPr>
          <p:cNvPr id="29" name="loop-node-4">
            <a:extLst xmlns:a="http://schemas.openxmlformats.org/drawingml/2006/main">
              <a:ext uri="{FF2B5EF4-FFF2-40B4-BE49-F238E27FC236}">
                <a16:creationId xmlns:a16="http://schemas.microsoft.com/office/drawing/2014/main" id="{A430B062-0914-4461-AA0A-8CD5DF2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00550"/>
            <a:ext cx="22669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D566A-D9D2-45BA-8E66-ECC96164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72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D01702-D377-4201-B454-9AAB68CB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81525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Next client trusts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CC0F2A-151C-4D8E-A7B6-1B314030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lower verification cost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2B3DCA-D476-454D-9DC1-85B1D8FC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C91C69-16AF-43CA-A1F8-E14B92668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195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C2D374-F29F-4D3F-8A32-55685FD0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1E6B88-21E3-4A40-8D43-250A1857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195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B1A144-6D86-4E59-B26B-C2A8DA1E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15000"/>
            <a:ext cx="2171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MONETIZATION HYPOTHESIS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AEAAFD-04EF-4045-9FD2-5186C2EB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9595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Completion fee atau team plan, hanya setelah pilot memvalidasi willingness to pay.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A54015-CF6B-4691-AD30-E2501F42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295163-FE52-4C13-81CA-3DE2DC2E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commercial model is a hypothesis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503709-CA43-4F5F-B753-FD5F75BF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565046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7100B87-5DEA-487D-AF95-DCB0874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649BC2C7-467E-40D2-B643-16D2054A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B9B0274F-B02F-4F7F-AEDF-1C5D53E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8F1E70CB-5230-48E1-AAA5-A0A0AC8C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9810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Validation datang sebelum dispute, stablecoin, dan scale.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3B3E6-30A1-4E5D-82A5-EBC4FB73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3750"/>
            <a:ext cx="1000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oadmap-marker-1">
            <a:extLst xmlns:a="http://schemas.openxmlformats.org/drawingml/2006/main">
              <a:ext uri="{FF2B5EF4-FFF2-40B4-BE49-F238E27FC236}">
                <a16:creationId xmlns:a16="http://schemas.microsoft.com/office/drawing/2014/main" id="{18FA5DA6-1E68-409E-882E-4B1B13E3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51F"/>
          </a:solidFill>
          <a:ln xmlns:a="http://schemas.openxmlformats.org/drawingml/2006/main" w="28575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FBF3F-21CB-430E-92E6-89E75789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5277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86E34-CA90-46F4-9EF3-C5EFD36A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FC181-F5B8-4257-8341-BDFB88E8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Prove the loop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EFF19-72E7-4E2A-942E-43B46FB5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Sepolia deploy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Full lifecycle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Certificate mint</a:t>
            </a:r>
          </a:p>
        </p:txBody>
      </p:sp>
      <p:sp>
        <p:nvSpPr>
          <p:cNvPr id="11" name="roadmap-gate-1">
            <a:extLst xmlns:a="http://schemas.openxmlformats.org/drawingml/2006/main">
              <a:ext uri="{FF2B5EF4-FFF2-40B4-BE49-F238E27FC236}">
                <a16:creationId xmlns:a16="http://schemas.microsoft.com/office/drawing/2014/main" id="{19DE265B-E1AB-4CD6-823F-CACD6D1B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1F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1 completed demo</a:t>
            </a:r>
          </a:p>
        </p:txBody>
      </p:sp>
      <p:sp>
        <p:nvSpPr>
          <p:cNvPr id="12" name="roadmap-marker-2">
            <a:extLst xmlns:a="http://schemas.openxmlformats.org/drawingml/2006/main">
              <a:ext uri="{FF2B5EF4-FFF2-40B4-BE49-F238E27FC236}">
                <a16:creationId xmlns:a16="http://schemas.microsoft.com/office/drawing/2014/main" id="{F5014C12-C357-4902-A430-E2CAA78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28575">
            <a:solidFill>
              <a:srgbClr val="6366F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F4F0E-3A7C-4A73-977A-142E22DC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5277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D71EB8-0447-4F01-95EC-D98CBF3D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383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A70786-BB8A-48E8-98BB-7FCD0FB4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Pilot with users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FCB16-E370-473D-A620-7B041F3A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00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20 target users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Observe failures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Measure completion</a:t>
            </a:r>
          </a:p>
        </p:txBody>
      </p:sp>
      <p:sp>
        <p:nvSpPr>
          <p:cNvPr id="17" name="roadmap-gate-2">
            <a:extLst xmlns:a="http://schemas.openxmlformats.org/drawingml/2006/main">
              <a:ext uri="{FF2B5EF4-FFF2-40B4-BE49-F238E27FC236}">
                <a16:creationId xmlns:a16="http://schemas.microsoft.com/office/drawing/2014/main" id="{F1A69398-8E54-469D-B820-494C4E13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292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repeat usage</a:t>
            </a:r>
          </a:p>
        </p:txBody>
      </p:sp>
      <p:sp>
        <p:nvSpPr>
          <p:cNvPr id="18" name="roadmap-marker-3">
            <a:extLst xmlns:a="http://schemas.openxmlformats.org/drawingml/2006/main">
              <a:ext uri="{FF2B5EF4-FFF2-40B4-BE49-F238E27FC236}">
                <a16:creationId xmlns:a16="http://schemas.microsoft.com/office/drawing/2014/main" id="{6E94DAF7-03E5-46C8-B309-742146AB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28575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993889-A397-4D00-B0F3-94BB5A5D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5277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9712F-4FEF-4A21-B684-4FCA17B4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HARDEN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94DCBE-EB2E-4F37-BB8D-861E6356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Reduce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5D2634-A91E-42DB-9002-9157F063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100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Deadline rules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Mutual cancel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Stablecoin test</a:t>
            </a:r>
          </a:p>
        </p:txBody>
      </p:sp>
      <p:sp>
        <p:nvSpPr>
          <p:cNvPr id="23" name="roadmap-gate-3">
            <a:extLst xmlns:a="http://schemas.openxmlformats.org/drawingml/2006/main">
              <a:ext uri="{FF2B5EF4-FFF2-40B4-BE49-F238E27FC236}">
                <a16:creationId xmlns:a16="http://schemas.microsoft.com/office/drawing/2014/main" id="{568F5D06-D2AC-4D8D-9DDA-82C21C7F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292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2B0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24" name="roadmap-marker-4">
            <a:extLst xmlns:a="http://schemas.openxmlformats.org/drawingml/2006/main">
              <a:ext uri="{FF2B5EF4-FFF2-40B4-BE49-F238E27FC236}">
                <a16:creationId xmlns:a16="http://schemas.microsoft.com/office/drawing/2014/main" id="{29BDFF2D-3978-427A-8644-EC2D31EF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24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42A"/>
          </a:solidFill>
          <a:ln xmlns:a="http://schemas.openxmlformats.org/drawingml/2006/main" w="28575">
            <a:solidFill>
              <a:srgbClr val="FAFAF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B9D7E-94B1-4F40-A4E8-8EEAAAC1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52775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B1EF9-4DF1-4F25-BBD1-821F400D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38350"/>
            <a:ext cx="2324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65CA3D-F28A-44B3-8497-038A07A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43150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Expand reputation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361356-EF24-45E8-8B37-2A439ECB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1866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Public profiles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Event indexer</a:t>
            </a:r>
          </a:p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Audited release</a:t>
            </a:r>
          </a:p>
        </p:txBody>
      </p:sp>
      <p:sp>
        <p:nvSpPr>
          <p:cNvPr id="29" name="roadmap-gate-4">
            <a:extLst xmlns:a="http://schemas.openxmlformats.org/drawingml/2006/main">
              <a:ext uri="{FF2B5EF4-FFF2-40B4-BE49-F238E27FC236}">
                <a16:creationId xmlns:a16="http://schemas.microsoft.com/office/drawing/2014/main" id="{35DDE179-8602-46C8-B207-47D3521A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029200"/>
            <a:ext cx="1828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242A"/>
          </a:solidFill>
          <a:ln xmlns:a="http://schemas.openxmlformats.org/drawingml/2006/main" w="9525">
            <a:solidFill>
              <a:srgbClr val="FAFAFA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proven demand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599BF-513B-43E7-8C89-AA68601F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48350"/>
            <a:ext cx="5638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Setiap fase hanya dimulai jika gate sebelumnya memberi bukti.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7CF11-3D92-4893-A685-22E8B772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ABC38E-0085-4D2F-A722-7D5F4B7C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Sepolia 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62499B-FDC2-474B-89F8-219FE2A2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80479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AC9E4F7-F6FA-4A65-A62E-605DF188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F8907A2-793C-41EC-AFE1-306932D7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6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2E9ADAEC-6769-4098-B558-4197765E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4" name="claim-title">
            <a:extLst xmlns:a="http://schemas.openxmlformats.org/drawingml/2006/main">
              <a:ext uri="{FF2B5EF4-FFF2-40B4-BE49-F238E27FC236}">
                <a16:creationId xmlns:a16="http://schemas.microsoft.com/office/drawing/2014/main" id="{6AE022A4-4980-4F6E-A916-60BCEBAB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AFAFA"/>
                </a:solidFill>
                <a:latin typeface="Aptos Display"/>
                <a:ea typeface="Aptos Display"/>
                <a:cs typeface="Aptos Display"/>
              </a:rPr>
              <a:t>Milestone berikutnya: pilot kecil yang bisa diukur.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361F22-E95F-48DB-A85A-08CF9659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858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1A1AA"/>
                </a:solidFill>
                <a:latin typeface="Aptos"/>
                <a:ea typeface="Aptos"/>
                <a:cs typeface="Aptos"/>
              </a:rPr>
              <a:t>WorkChain sudah membuktikan flow teknis. Sekarang yang dibutuhkan adalah bukti bahwa pengguna ingin mengulanginya.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6A787-DCAD-4E6B-88B2-00414BD0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DDB4B-30DD-4E79-903A-0C74F555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pilot 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4641A-3B5F-4AB0-908A-C3078F75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client + freelancer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53C4E-B94D-4BC3-AB9C-561AB582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432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D8EA3-0769-44B6-95B9-3895E5FA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FB9D6-67C6-4FF4-8DEF-A137C5B3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528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completed projects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89542-2AB0-4C14-BBCE-503125B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957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bukan sekadar 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BF6BF-B218-40BC-99A2-197A6C7A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43250"/>
            <a:ext cx="9525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A2A7E-EFC1-47D9-837A-F4266DD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05150"/>
            <a:ext cx="104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5350C-982D-4E86-9588-62F4AD9A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52850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1A1A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1A1AA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821BF-37F1-45FC-BD69-14E11487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790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sebelum real value</a:t>
            </a:r>
          </a:p>
        </p:txBody>
      </p:sp>
      <p:sp>
        <p:nvSpPr>
          <p:cNvPr id="17" name="closing-certificate-frame">
            <a:extLst xmlns:a="http://schemas.openxmlformats.org/drawingml/2006/main">
              <a:ext uri="{FF2B5EF4-FFF2-40B4-BE49-F238E27FC236}">
                <a16:creationId xmlns:a16="http://schemas.microsoft.com/office/drawing/2014/main" id="{66451AA3-58E1-48CC-A05D-CEFB1708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9600"/>
            <a:ext cx="333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114"/>
          </a:solidFill>
          <a:ln xmlns:a="http://schemas.openxmlformats.org/drawingml/2006/main" w="9525">
            <a:solidFill>
              <a:srgbClr val="34343A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5332c4ab84d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72450" y="762000"/>
            <a:ext cx="3028950" cy="30289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E1DCA-52D7-43E0-A4E4-FFE186C1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84A"/>
          </a:solidFill>
          <a:ln xmlns:a="http://schemas.openxmlformats.org/drawingml/2006/main" w="9525">
            <a:solidFill>
              <a:srgbClr val="6366F1"/>
            </a:solidFill>
            <a:prstDash val="solid"/>
          </a:ln>
        </p:spPr>
        <p:txBody>
          <a:bodyPr xmlns:a="http://schemas.openxmlformats.org/drawingml/2006/main" lIns="95250" tIns="38100" rIns="9525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AFA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AFAFA"/>
                </a:solidFill>
                <a:latin typeface="Aptos"/>
                <a:ea typeface="Aptos"/>
                <a:cs typeface="Aptos"/>
              </a:rPr>
              <a:t>YOUR REPUTATION LIVES ON-CHAIN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10D42C-5E00-4ECD-8830-71070169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DEPLOYED CONTRACTS / SEPOLIA</a:t>
            </a:r>
          </a:p>
        </p:txBody>
      </p:sp>
      <p:sp>
        <p:nvSpPr>
          <p:cNvPr id="21" name="address-proof-strip">
            <a:extLst xmlns:a="http://schemas.openxmlformats.org/drawingml/2006/main">
              <a:ext uri="{FF2B5EF4-FFF2-40B4-BE49-F238E27FC236}">
                <a16:creationId xmlns:a16="http://schemas.microsoft.com/office/drawing/2014/main" id="{D0E3579B-AB7D-4BED-AD78-F73E32D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442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116"/>
          </a:solidFill>
          <a:ln xmlns:a="http://schemas.openxmlformats.org/drawingml/2006/main" w="9525">
            <a:solidFill>
              <a:srgbClr val="2727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E70FC4-CB7C-416B-9310-2A5E5FDD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TOKEN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D31186-B2CE-4818-B4E0-51602186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rPr>
              <a:t>0xE8d635...0867D84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D0EE6B-16D0-4630-8312-F6BF8B8C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48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NFT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E32FE-FB44-468E-AB01-0CC40C93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69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rPr>
              <a:t>0xbD71Af...efdCCC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EE656F-0B50-4A8D-A95A-13894D9E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483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ESCROW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B118F7-3890-4628-92B9-4C169643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959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FAFAFA"/>
                </a:solidFill>
                <a:latin typeface="Aptos Mono"/>
                <a:ea typeface="Aptos Mono"/>
                <a:cs typeface="Aptos Mono"/>
              </a:rPr>
              <a:t>0x6df59b...4FCb1b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5F9ED6-536E-4B56-B9FF-C1CC015D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C355E-F475-4E25-A223-D10EAA96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717A"/>
                </a:solidFill>
                <a:latin typeface="Aptos"/>
                <a:ea typeface="Aptos"/>
                <a:cs typeface="Aptos"/>
              </a:rPr>
              <a:t>WorkChain / ready for pilot feedback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79C927-3FA2-45EF-8ED3-538571AB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38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171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7171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327506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2026-06-11T13:35:07.3420000Z</dcterms:created>
  <dcterms:modified xsi:type="dcterms:W3CDTF">2026-06-11T13:35:07.3430000Z</dcterms:modified>
</coreProperties>
</file>